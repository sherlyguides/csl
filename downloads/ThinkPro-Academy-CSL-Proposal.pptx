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74" r:id="rId3"/>
    <p:sldId id="259" r:id="rId4"/>
    <p:sldId id="260" r:id="rId5"/>
    <p:sldId id="261" r:id="rId6"/>
    <p:sldId id="262" r:id="rId7"/>
    <p:sldId id="263" r:id="rId8"/>
    <p:sldId id="267" r:id="rId9"/>
    <p:sldId id="276" r:id="rId10"/>
    <p:sldId id="268" r:id="rId11"/>
    <p:sldId id="269" r:id="rId12"/>
    <p:sldId id="270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269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822960" y="2194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Composite Skill Lab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Proposal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1086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your school needs to decide, plan, and launch a CBSE-compliant Composite Skill Lab for Classes VI–X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4617720"/>
            <a:ext cx="2738386" cy="457200"/>
          </a:xfrm>
          <a:prstGeom prst="roundRect">
            <a:avLst>
              <a:gd name="adj" fmla="val 50000"/>
            </a:avLst>
          </a:prstGeom>
          <a:solidFill>
            <a:srgbClr val="324A9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59" y="4617720"/>
            <a:ext cx="27383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Recommended Vocations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56977" y="4617720"/>
            <a:ext cx="3012948" cy="457200"/>
          </a:xfrm>
          <a:prstGeom prst="roundRect">
            <a:avLst>
              <a:gd name="adj" fmla="val 50000"/>
            </a:avLst>
          </a:prstGeom>
          <a:solidFill>
            <a:srgbClr val="324A9E"/>
          </a:solidFill>
          <a:ln/>
        </p:spPr>
      </p:sp>
      <p:sp>
        <p:nvSpPr>
          <p:cNvPr id="13" name="Text 11"/>
          <p:cNvSpPr/>
          <p:nvPr/>
        </p:nvSpPr>
        <p:spPr>
          <a:xfrm>
            <a:off x="3756977" y="4617720"/>
            <a:ext cx="3012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CBSE Aligned Curriculum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52805" y="4617720"/>
            <a:ext cx="1970532" cy="457200"/>
          </a:xfrm>
          <a:prstGeom prst="roundRect">
            <a:avLst>
              <a:gd name="adj" fmla="val 50000"/>
            </a:avLst>
          </a:prstGeom>
          <a:solidFill>
            <a:srgbClr val="324A9E"/>
          </a:solidFill>
          <a:ln/>
        </p:spPr>
      </p:sp>
      <p:sp>
        <p:nvSpPr>
          <p:cNvPr id="15" name="Text 13"/>
          <p:cNvSpPr/>
          <p:nvPr/>
        </p:nvSpPr>
        <p:spPr>
          <a:xfrm>
            <a:off x="6952805" y="4617720"/>
            <a:ext cx="19705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Delivery</a:t>
            </a:r>
            <a:endParaRPr lang="en-US" sz="16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EE99E4C-4026-0F3A-6B7F-1289EC2C1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5146" y="333730"/>
            <a:ext cx="4078747" cy="9175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1">
            <a:extLst>
              <a:ext uri="{FF2B5EF4-FFF2-40B4-BE49-F238E27FC236}">
                <a16:creationId xmlns:a16="http://schemas.microsoft.com/office/drawing/2014/main" id="{7ED68720-F271-BAE4-E99B-DDC2A3BD1276}"/>
              </a:ext>
            </a:extLst>
          </p:cNvPr>
          <p:cNvSpPr txBox="1"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62E"/>
                </a:solidFill>
                <a:latin typeface="Cambria" pitchFamily="34" charset="0"/>
                <a:ea typeface="Cambria" pitchFamily="34" charset="-122"/>
              </a:rPr>
              <a:t>CBSE Composite Skill Lab — The Mandate at a Glance</a:t>
            </a:r>
          </a:p>
        </p:txBody>
      </p:sp>
      <p:sp>
        <p:nvSpPr>
          <p:cNvPr id="63" name="Text 2">
            <a:extLst>
              <a:ext uri="{FF2B5EF4-FFF2-40B4-BE49-F238E27FC236}">
                <a16:creationId xmlns:a16="http://schemas.microsoft.com/office/drawing/2014/main" id="{E799EB75-CF1C-BD3E-AFD9-239B1DD448BE}"/>
              </a:ext>
            </a:extLst>
          </p:cNvPr>
          <p:cNvSpPr txBox="1"/>
          <p:nvPr/>
        </p:nvSpPr>
        <p:spPr>
          <a:xfrm>
            <a:off x="457200" y="1115961"/>
            <a:ext cx="10515600" cy="530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Circular Skill-75/2024, reinforced by Circular Skill-13/2026  </a:t>
            </a:r>
          </a:p>
          <a:p>
            <a:r>
              <a:rPr lang="en-IN" sz="1600" dirty="0"/>
              <a:t>Existing schools: due 22 Aug 2027 | New schools: mandatory pre-requisite for CBSE affiliation</a:t>
            </a:r>
            <a:endParaRPr lang="en-US" sz="1600" dirty="0"/>
          </a:p>
        </p:txBody>
      </p:sp>
      <p:sp>
        <p:nvSpPr>
          <p:cNvPr id="65" name="Shape 3">
            <a:extLst>
              <a:ext uri="{FF2B5EF4-FFF2-40B4-BE49-F238E27FC236}">
                <a16:creationId xmlns:a16="http://schemas.microsoft.com/office/drawing/2014/main" id="{79FF4D20-B459-DF04-1955-9FBC4209538D}"/>
              </a:ext>
            </a:extLst>
          </p:cNvPr>
          <p:cNvSpPr/>
          <p:nvPr/>
        </p:nvSpPr>
        <p:spPr>
          <a:xfrm>
            <a:off x="457200" y="1902460"/>
            <a:ext cx="2660904" cy="2002536"/>
          </a:xfrm>
          <a:prstGeom prst="roundRect">
            <a:avLst>
              <a:gd name="adj" fmla="val 3089"/>
            </a:avLst>
          </a:prstGeom>
          <a:solidFill>
            <a:srgbClr val="FAFAF8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7" name="Text 4">
            <a:extLst>
              <a:ext uri="{FF2B5EF4-FFF2-40B4-BE49-F238E27FC236}">
                <a16:creationId xmlns:a16="http://schemas.microsoft.com/office/drawing/2014/main" id="{DA97B479-4AB8-E95F-097C-57478CEADC1E}"/>
              </a:ext>
            </a:extLst>
          </p:cNvPr>
          <p:cNvSpPr txBox="1"/>
          <p:nvPr/>
        </p:nvSpPr>
        <p:spPr>
          <a:xfrm>
            <a:off x="594360" y="2012188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69" name="Text 5">
            <a:extLst>
              <a:ext uri="{FF2B5EF4-FFF2-40B4-BE49-F238E27FC236}">
                <a16:creationId xmlns:a16="http://schemas.microsoft.com/office/drawing/2014/main" id="{48CF7CD3-BCF3-BF4A-0A1E-9B1D8E9C58A4}"/>
              </a:ext>
            </a:extLst>
          </p:cNvPr>
          <p:cNvSpPr txBox="1"/>
          <p:nvPr/>
        </p:nvSpPr>
        <p:spPr>
          <a:xfrm>
            <a:off x="594360" y="2679700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of Work</a:t>
            </a:r>
            <a:endParaRPr lang="en-US" dirty="0"/>
          </a:p>
        </p:txBody>
      </p:sp>
      <p:sp>
        <p:nvSpPr>
          <p:cNvPr id="71" name="Text 6">
            <a:extLst>
              <a:ext uri="{FF2B5EF4-FFF2-40B4-BE49-F238E27FC236}">
                <a16:creationId xmlns:a16="http://schemas.microsoft.com/office/drawing/2014/main" id="{986E123E-98C5-9A27-AE4A-5CB68B3F7911}"/>
              </a:ext>
            </a:extLst>
          </p:cNvPr>
          <p:cNvSpPr txBox="1"/>
          <p:nvPr/>
        </p:nvSpPr>
        <p:spPr>
          <a:xfrm>
            <a:off x="594360" y="3045460"/>
            <a:ext cx="238658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Forms · Machines &amp; Materials · Human Services — every lab must cover all three</a:t>
            </a:r>
            <a:endParaRPr lang="en-US" sz="1100" dirty="0"/>
          </a:p>
        </p:txBody>
      </p:sp>
      <p:sp>
        <p:nvSpPr>
          <p:cNvPr id="73" name="Shape 7">
            <a:extLst>
              <a:ext uri="{FF2B5EF4-FFF2-40B4-BE49-F238E27FC236}">
                <a16:creationId xmlns:a16="http://schemas.microsoft.com/office/drawing/2014/main" id="{09E27451-80CE-6DAF-BCC6-6C14B06423BF}"/>
              </a:ext>
            </a:extLst>
          </p:cNvPr>
          <p:cNvSpPr/>
          <p:nvPr/>
        </p:nvSpPr>
        <p:spPr>
          <a:xfrm>
            <a:off x="3319272" y="1902460"/>
            <a:ext cx="2660904" cy="2002536"/>
          </a:xfrm>
          <a:prstGeom prst="roundRect">
            <a:avLst>
              <a:gd name="adj" fmla="val 3089"/>
            </a:avLst>
          </a:prstGeom>
          <a:solidFill>
            <a:srgbClr val="FAFAF8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5" name="Text 8">
            <a:extLst>
              <a:ext uri="{FF2B5EF4-FFF2-40B4-BE49-F238E27FC236}">
                <a16:creationId xmlns:a16="http://schemas.microsoft.com/office/drawing/2014/main" id="{0C111AAB-EE17-74CA-259F-5052EDE08A09}"/>
              </a:ext>
            </a:extLst>
          </p:cNvPr>
          <p:cNvSpPr txBox="1"/>
          <p:nvPr/>
        </p:nvSpPr>
        <p:spPr>
          <a:xfrm>
            <a:off x="3456432" y="2012188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</a:t>
            </a:r>
            <a:endParaRPr lang="en-US" sz="3000" dirty="0"/>
          </a:p>
        </p:txBody>
      </p:sp>
      <p:sp>
        <p:nvSpPr>
          <p:cNvPr id="77" name="Text 9">
            <a:extLst>
              <a:ext uri="{FF2B5EF4-FFF2-40B4-BE49-F238E27FC236}">
                <a16:creationId xmlns:a16="http://schemas.microsoft.com/office/drawing/2014/main" id="{FFC63B72-3BA4-DD43-CED7-D423802B99BF}"/>
              </a:ext>
            </a:extLst>
          </p:cNvPr>
          <p:cNvSpPr txBox="1"/>
          <p:nvPr/>
        </p:nvSpPr>
        <p:spPr>
          <a:xfrm>
            <a:off x="4187952" y="2327656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sq.ft.</a:t>
            </a:r>
            <a:endParaRPr lang="en-US" sz="1400" dirty="0"/>
          </a:p>
        </p:txBody>
      </p:sp>
      <p:sp>
        <p:nvSpPr>
          <p:cNvPr id="79" name="Text 10">
            <a:extLst>
              <a:ext uri="{FF2B5EF4-FFF2-40B4-BE49-F238E27FC236}">
                <a16:creationId xmlns:a16="http://schemas.microsoft.com/office/drawing/2014/main" id="{BC9334E2-7FB1-730F-D977-D274751211A9}"/>
              </a:ext>
            </a:extLst>
          </p:cNvPr>
          <p:cNvSpPr txBox="1"/>
          <p:nvPr/>
        </p:nvSpPr>
        <p:spPr>
          <a:xfrm>
            <a:off x="3456432" y="2674890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Space</a:t>
            </a:r>
            <a:endParaRPr lang="en-US" dirty="0"/>
          </a:p>
        </p:txBody>
      </p:sp>
      <p:sp>
        <p:nvSpPr>
          <p:cNvPr id="81" name="Text 11">
            <a:extLst>
              <a:ext uri="{FF2B5EF4-FFF2-40B4-BE49-F238E27FC236}">
                <a16:creationId xmlns:a16="http://schemas.microsoft.com/office/drawing/2014/main" id="{64E75B51-EBB3-C02E-D5EE-DEFE74516883}"/>
              </a:ext>
            </a:extLst>
          </p:cNvPr>
          <p:cNvSpPr txBox="1"/>
          <p:nvPr/>
        </p:nvSpPr>
        <p:spPr>
          <a:xfrm>
            <a:off x="3456432" y="3040650"/>
            <a:ext cx="238658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lab (VI–XII) or two 400 sq.ft. labs (VI–X &amp; XI–XII)</a:t>
            </a:r>
            <a:endParaRPr lang="en-US" sz="1100" dirty="0"/>
          </a:p>
        </p:txBody>
      </p:sp>
      <p:sp>
        <p:nvSpPr>
          <p:cNvPr id="83" name="Shape 12">
            <a:extLst>
              <a:ext uri="{FF2B5EF4-FFF2-40B4-BE49-F238E27FC236}">
                <a16:creationId xmlns:a16="http://schemas.microsoft.com/office/drawing/2014/main" id="{A546C105-E874-2095-7636-FDBB119ACAA1}"/>
              </a:ext>
            </a:extLst>
          </p:cNvPr>
          <p:cNvSpPr/>
          <p:nvPr/>
        </p:nvSpPr>
        <p:spPr>
          <a:xfrm>
            <a:off x="6181344" y="1902460"/>
            <a:ext cx="2660904" cy="2002536"/>
          </a:xfrm>
          <a:prstGeom prst="roundRect">
            <a:avLst>
              <a:gd name="adj" fmla="val 3089"/>
            </a:avLst>
          </a:prstGeom>
          <a:solidFill>
            <a:srgbClr val="FAFAF8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5" name="Text 13">
            <a:extLst>
              <a:ext uri="{FF2B5EF4-FFF2-40B4-BE49-F238E27FC236}">
                <a16:creationId xmlns:a16="http://schemas.microsoft.com/office/drawing/2014/main" id="{3F80829E-1478-6C41-060F-7A7033D5306D}"/>
              </a:ext>
            </a:extLst>
          </p:cNvPr>
          <p:cNvSpPr txBox="1"/>
          <p:nvPr/>
        </p:nvSpPr>
        <p:spPr>
          <a:xfrm>
            <a:off x="6318504" y="2012188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</a:t>
            </a:r>
            <a:endParaRPr lang="en-US" sz="3000" dirty="0"/>
          </a:p>
        </p:txBody>
      </p:sp>
      <p:sp>
        <p:nvSpPr>
          <p:cNvPr id="87" name="Text 14">
            <a:extLst>
              <a:ext uri="{FF2B5EF4-FFF2-40B4-BE49-F238E27FC236}">
                <a16:creationId xmlns:a16="http://schemas.microsoft.com/office/drawing/2014/main" id="{D30B8CE5-F28E-CA02-2E49-099406877E3C}"/>
              </a:ext>
            </a:extLst>
          </p:cNvPr>
          <p:cNvSpPr txBox="1"/>
          <p:nvPr/>
        </p:nvSpPr>
        <p:spPr>
          <a:xfrm>
            <a:off x="7117401" y="2313940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hrs/yr</a:t>
            </a:r>
            <a:endParaRPr lang="en-US" sz="1400" dirty="0"/>
          </a:p>
        </p:txBody>
      </p:sp>
      <p:sp>
        <p:nvSpPr>
          <p:cNvPr id="89" name="Text 15">
            <a:extLst>
              <a:ext uri="{FF2B5EF4-FFF2-40B4-BE49-F238E27FC236}">
                <a16:creationId xmlns:a16="http://schemas.microsoft.com/office/drawing/2014/main" id="{ACEDF29A-2AB9-ACDC-80A2-59727EB3DF80}"/>
              </a:ext>
            </a:extLst>
          </p:cNvPr>
          <p:cNvSpPr txBox="1"/>
          <p:nvPr/>
        </p:nvSpPr>
        <p:spPr>
          <a:xfrm>
            <a:off x="6318504" y="2672569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Vocational Education</a:t>
            </a:r>
            <a:endParaRPr lang="en-US" dirty="0"/>
          </a:p>
        </p:txBody>
      </p:sp>
      <p:sp>
        <p:nvSpPr>
          <p:cNvPr id="91" name="Text 16">
            <a:extLst>
              <a:ext uri="{FF2B5EF4-FFF2-40B4-BE49-F238E27FC236}">
                <a16:creationId xmlns:a16="http://schemas.microsoft.com/office/drawing/2014/main" id="{EB803C97-1C6B-3F34-8359-E28C60FAAF9C}"/>
              </a:ext>
            </a:extLst>
          </p:cNvPr>
          <p:cNvSpPr txBox="1"/>
          <p:nvPr/>
        </p:nvSpPr>
        <p:spPr>
          <a:xfrm>
            <a:off x="6318504" y="3038329"/>
            <a:ext cx="238658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time for Classes VI–X, built into the school timetable</a:t>
            </a:r>
            <a:endParaRPr lang="en-US" sz="1100" dirty="0"/>
          </a:p>
        </p:txBody>
      </p:sp>
      <p:sp>
        <p:nvSpPr>
          <p:cNvPr id="93" name="Shape 17">
            <a:extLst>
              <a:ext uri="{FF2B5EF4-FFF2-40B4-BE49-F238E27FC236}">
                <a16:creationId xmlns:a16="http://schemas.microsoft.com/office/drawing/2014/main" id="{4401E61E-40D0-D9F3-3081-99D0C143B665}"/>
              </a:ext>
            </a:extLst>
          </p:cNvPr>
          <p:cNvSpPr/>
          <p:nvPr/>
        </p:nvSpPr>
        <p:spPr>
          <a:xfrm>
            <a:off x="9043416" y="1902460"/>
            <a:ext cx="2660904" cy="2002536"/>
          </a:xfrm>
          <a:prstGeom prst="roundRect">
            <a:avLst>
              <a:gd name="adj" fmla="val 3089"/>
            </a:avLst>
          </a:prstGeom>
          <a:solidFill>
            <a:srgbClr val="FAFAF8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5" name="Text 18">
            <a:extLst>
              <a:ext uri="{FF2B5EF4-FFF2-40B4-BE49-F238E27FC236}">
                <a16:creationId xmlns:a16="http://schemas.microsoft.com/office/drawing/2014/main" id="{F3BB16B6-26D5-F9CD-1C56-280F6202FC1D}"/>
              </a:ext>
            </a:extLst>
          </p:cNvPr>
          <p:cNvSpPr txBox="1"/>
          <p:nvPr/>
        </p:nvSpPr>
        <p:spPr>
          <a:xfrm>
            <a:off x="9180576" y="2012188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800" dirty="0"/>
          </a:p>
        </p:txBody>
      </p:sp>
      <p:sp>
        <p:nvSpPr>
          <p:cNvPr id="97" name="Text 19">
            <a:extLst>
              <a:ext uri="{FF2B5EF4-FFF2-40B4-BE49-F238E27FC236}">
                <a16:creationId xmlns:a16="http://schemas.microsoft.com/office/drawing/2014/main" id="{BF589295-C229-FBCE-BD0F-33AD621CC908}"/>
              </a:ext>
            </a:extLst>
          </p:cNvPr>
          <p:cNvSpPr txBox="1"/>
          <p:nvPr/>
        </p:nvSpPr>
        <p:spPr>
          <a:xfrm>
            <a:off x="9180576" y="2667759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Corner</a:t>
            </a:r>
            <a:endParaRPr lang="en-US" dirty="0"/>
          </a:p>
        </p:txBody>
      </p:sp>
      <p:sp>
        <p:nvSpPr>
          <p:cNvPr id="99" name="Text 20">
            <a:extLst>
              <a:ext uri="{FF2B5EF4-FFF2-40B4-BE49-F238E27FC236}">
                <a16:creationId xmlns:a16="http://schemas.microsoft.com/office/drawing/2014/main" id="{439E6ED9-0926-97A2-A2A5-2021529148D9}"/>
              </a:ext>
            </a:extLst>
          </p:cNvPr>
          <p:cNvSpPr txBox="1"/>
          <p:nvPr/>
        </p:nvSpPr>
        <p:spPr>
          <a:xfrm>
            <a:off x="9180576" y="3033519"/>
            <a:ext cx="238658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Mandatory: fire extinguisher, first-aid box, PPE — near the entrance, two wide exit doors</a:t>
            </a:r>
            <a:endParaRPr lang="en-US" sz="1100" dirty="0"/>
          </a:p>
        </p:txBody>
      </p:sp>
      <p:sp>
        <p:nvSpPr>
          <p:cNvPr id="101" name="Shape 21">
            <a:extLst>
              <a:ext uri="{FF2B5EF4-FFF2-40B4-BE49-F238E27FC236}">
                <a16:creationId xmlns:a16="http://schemas.microsoft.com/office/drawing/2014/main" id="{CE4027A9-F7EC-B1BC-839A-C3C4188D1574}"/>
              </a:ext>
            </a:extLst>
          </p:cNvPr>
          <p:cNvSpPr/>
          <p:nvPr/>
        </p:nvSpPr>
        <p:spPr>
          <a:xfrm>
            <a:off x="457200" y="4078224"/>
            <a:ext cx="2660904" cy="2002536"/>
          </a:xfrm>
          <a:prstGeom prst="roundRect">
            <a:avLst>
              <a:gd name="adj" fmla="val 3089"/>
            </a:avLst>
          </a:prstGeom>
          <a:solidFill>
            <a:srgbClr val="FAFAF8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3" name="Text 22">
            <a:extLst>
              <a:ext uri="{FF2B5EF4-FFF2-40B4-BE49-F238E27FC236}">
                <a16:creationId xmlns:a16="http://schemas.microsoft.com/office/drawing/2014/main" id="{8783F5D4-B421-9E0D-4A1D-58BE6EA04369}"/>
              </a:ext>
            </a:extLst>
          </p:cNvPr>
          <p:cNvSpPr txBox="1"/>
          <p:nvPr/>
        </p:nvSpPr>
        <p:spPr>
          <a:xfrm>
            <a:off x="594360" y="4187952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C97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800" dirty="0"/>
          </a:p>
        </p:txBody>
      </p:sp>
      <p:sp>
        <p:nvSpPr>
          <p:cNvPr id="105" name="Text 23">
            <a:extLst>
              <a:ext uri="{FF2B5EF4-FFF2-40B4-BE49-F238E27FC236}">
                <a16:creationId xmlns:a16="http://schemas.microsoft.com/office/drawing/2014/main" id="{69D0380B-2172-6A53-C9D5-9D2290C09D19}"/>
              </a:ext>
            </a:extLst>
          </p:cNvPr>
          <p:cNvSpPr txBox="1"/>
          <p:nvPr/>
        </p:nvSpPr>
        <p:spPr>
          <a:xfrm>
            <a:off x="594360" y="4855464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Stage Projects</a:t>
            </a:r>
            <a:endParaRPr lang="en-US" dirty="0"/>
          </a:p>
        </p:txBody>
      </p:sp>
      <p:sp>
        <p:nvSpPr>
          <p:cNvPr id="107" name="Text 24">
            <a:extLst>
              <a:ext uri="{FF2B5EF4-FFF2-40B4-BE49-F238E27FC236}">
                <a16:creationId xmlns:a16="http://schemas.microsoft.com/office/drawing/2014/main" id="{BBB1F4F7-56BB-4B48-38AE-CEB475BA07D1}"/>
              </a:ext>
            </a:extLst>
          </p:cNvPr>
          <p:cNvSpPr txBox="1"/>
          <p:nvPr/>
        </p:nvSpPr>
        <p:spPr>
          <a:xfrm>
            <a:off x="594360" y="5221224"/>
            <a:ext cx="238658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VI–VIII: 3 projects/grade (1 per Form of Work) — 9 total, culminating in the Kaushal Mela</a:t>
            </a:r>
            <a:endParaRPr lang="en-US" sz="1100" dirty="0"/>
          </a:p>
        </p:txBody>
      </p:sp>
      <p:sp>
        <p:nvSpPr>
          <p:cNvPr id="109" name="Shape 25">
            <a:extLst>
              <a:ext uri="{FF2B5EF4-FFF2-40B4-BE49-F238E27FC236}">
                <a16:creationId xmlns:a16="http://schemas.microsoft.com/office/drawing/2014/main" id="{937A2E44-0C64-F5DA-3FC0-885F077ED196}"/>
              </a:ext>
            </a:extLst>
          </p:cNvPr>
          <p:cNvSpPr/>
          <p:nvPr/>
        </p:nvSpPr>
        <p:spPr>
          <a:xfrm>
            <a:off x="3319272" y="4078224"/>
            <a:ext cx="2660904" cy="2002536"/>
          </a:xfrm>
          <a:prstGeom prst="roundRect">
            <a:avLst>
              <a:gd name="adj" fmla="val 3089"/>
            </a:avLst>
          </a:prstGeom>
          <a:solidFill>
            <a:srgbClr val="FAFAF8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1" name="Text 26">
            <a:extLst>
              <a:ext uri="{FF2B5EF4-FFF2-40B4-BE49-F238E27FC236}">
                <a16:creationId xmlns:a16="http://schemas.microsoft.com/office/drawing/2014/main" id="{D9AF4EEF-D8A5-318F-EC20-A0607DA033A4}"/>
              </a:ext>
            </a:extLst>
          </p:cNvPr>
          <p:cNvSpPr txBox="1"/>
          <p:nvPr/>
        </p:nvSpPr>
        <p:spPr>
          <a:xfrm>
            <a:off x="3456432" y="4187952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C97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800" dirty="0"/>
          </a:p>
        </p:txBody>
      </p:sp>
      <p:sp>
        <p:nvSpPr>
          <p:cNvPr id="113" name="Text 27">
            <a:extLst>
              <a:ext uri="{FF2B5EF4-FFF2-40B4-BE49-F238E27FC236}">
                <a16:creationId xmlns:a16="http://schemas.microsoft.com/office/drawing/2014/main" id="{BB20139C-8D15-719A-D04D-E860619A9A33}"/>
              </a:ext>
            </a:extLst>
          </p:cNvPr>
          <p:cNvSpPr txBox="1"/>
          <p:nvPr/>
        </p:nvSpPr>
        <p:spPr>
          <a:xfrm>
            <a:off x="3456432" y="4855464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Vocations</a:t>
            </a:r>
            <a:endParaRPr lang="en-US" dirty="0"/>
          </a:p>
        </p:txBody>
      </p:sp>
      <p:sp>
        <p:nvSpPr>
          <p:cNvPr id="115" name="Text 28">
            <a:extLst>
              <a:ext uri="{FF2B5EF4-FFF2-40B4-BE49-F238E27FC236}">
                <a16:creationId xmlns:a16="http://schemas.microsoft.com/office/drawing/2014/main" id="{95785BEE-38CE-7250-00BC-743883B7F83F}"/>
              </a:ext>
            </a:extLst>
          </p:cNvPr>
          <p:cNvSpPr txBox="1"/>
          <p:nvPr/>
        </p:nvSpPr>
        <p:spPr>
          <a:xfrm>
            <a:off x="3456432" y="5221224"/>
            <a:ext cx="238658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IX–X: 2 vocations per Form of Work; students rotate through 3 of 6 across the two years</a:t>
            </a:r>
            <a:endParaRPr lang="en-US" sz="1100" dirty="0"/>
          </a:p>
        </p:txBody>
      </p:sp>
      <p:sp>
        <p:nvSpPr>
          <p:cNvPr id="117" name="Shape 29">
            <a:extLst>
              <a:ext uri="{FF2B5EF4-FFF2-40B4-BE49-F238E27FC236}">
                <a16:creationId xmlns:a16="http://schemas.microsoft.com/office/drawing/2014/main" id="{CEF8548B-31CD-7F1B-9BFD-CEB2C72B8FE9}"/>
              </a:ext>
            </a:extLst>
          </p:cNvPr>
          <p:cNvSpPr/>
          <p:nvPr/>
        </p:nvSpPr>
        <p:spPr>
          <a:xfrm>
            <a:off x="6181344" y="4078224"/>
            <a:ext cx="2660904" cy="2002536"/>
          </a:xfrm>
          <a:prstGeom prst="roundRect">
            <a:avLst>
              <a:gd name="adj" fmla="val 3089"/>
            </a:avLst>
          </a:prstGeom>
          <a:solidFill>
            <a:srgbClr val="FAFAF8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9" name="Text 30">
            <a:extLst>
              <a:ext uri="{FF2B5EF4-FFF2-40B4-BE49-F238E27FC236}">
                <a16:creationId xmlns:a16="http://schemas.microsoft.com/office/drawing/2014/main" id="{109E62B2-61B3-A6F4-49EA-C17C50356A6C}"/>
              </a:ext>
            </a:extLst>
          </p:cNvPr>
          <p:cNvSpPr txBox="1"/>
          <p:nvPr/>
        </p:nvSpPr>
        <p:spPr>
          <a:xfrm>
            <a:off x="6318504" y="4187952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10/30/30/10/20</a:t>
            </a:r>
            <a:endParaRPr lang="en-US" sz="2000" dirty="0"/>
          </a:p>
        </p:txBody>
      </p:sp>
      <p:sp>
        <p:nvSpPr>
          <p:cNvPr id="121" name="Text 31">
            <a:extLst>
              <a:ext uri="{FF2B5EF4-FFF2-40B4-BE49-F238E27FC236}">
                <a16:creationId xmlns:a16="http://schemas.microsoft.com/office/drawing/2014/main" id="{5243195B-AA83-F951-5647-464E10D7786F}"/>
              </a:ext>
            </a:extLst>
          </p:cNvPr>
          <p:cNvSpPr txBox="1"/>
          <p:nvPr/>
        </p:nvSpPr>
        <p:spPr>
          <a:xfrm>
            <a:off x="6318504" y="4855464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Stage Assessment</a:t>
            </a:r>
            <a:endParaRPr lang="en-US" dirty="0"/>
          </a:p>
        </p:txBody>
      </p:sp>
      <p:sp>
        <p:nvSpPr>
          <p:cNvPr id="123" name="Text 32">
            <a:extLst>
              <a:ext uri="{FF2B5EF4-FFF2-40B4-BE49-F238E27FC236}">
                <a16:creationId xmlns:a16="http://schemas.microsoft.com/office/drawing/2014/main" id="{EE63CACE-650C-C98F-91B3-09F973941D15}"/>
              </a:ext>
            </a:extLst>
          </p:cNvPr>
          <p:cNvSpPr txBox="1"/>
          <p:nvPr/>
        </p:nvSpPr>
        <p:spPr>
          <a:xfrm>
            <a:off x="6318504" y="5349240"/>
            <a:ext cx="238658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/ Viva / Activity Book / Portfolio / Observation</a:t>
            </a:r>
            <a:endParaRPr lang="en-US" sz="1100" dirty="0"/>
          </a:p>
        </p:txBody>
      </p:sp>
      <p:sp>
        <p:nvSpPr>
          <p:cNvPr id="125" name="Shape 33">
            <a:extLst>
              <a:ext uri="{FF2B5EF4-FFF2-40B4-BE49-F238E27FC236}">
                <a16:creationId xmlns:a16="http://schemas.microsoft.com/office/drawing/2014/main" id="{3D33D594-A86B-8EDD-E23A-135BDF8382FD}"/>
              </a:ext>
            </a:extLst>
          </p:cNvPr>
          <p:cNvSpPr/>
          <p:nvPr/>
        </p:nvSpPr>
        <p:spPr>
          <a:xfrm>
            <a:off x="9043416" y="4078224"/>
            <a:ext cx="2660904" cy="2002536"/>
          </a:xfrm>
          <a:prstGeom prst="roundRect">
            <a:avLst>
              <a:gd name="adj" fmla="val 3089"/>
            </a:avLst>
          </a:prstGeom>
          <a:solidFill>
            <a:srgbClr val="FAFAF8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7" name="Text 34">
            <a:extLst>
              <a:ext uri="{FF2B5EF4-FFF2-40B4-BE49-F238E27FC236}">
                <a16:creationId xmlns:a16="http://schemas.microsoft.com/office/drawing/2014/main" id="{7B05A469-7DE4-0E84-FF16-60BD85263768}"/>
              </a:ext>
            </a:extLst>
          </p:cNvPr>
          <p:cNvSpPr txBox="1"/>
          <p:nvPr/>
        </p:nvSpPr>
        <p:spPr>
          <a:xfrm>
            <a:off x="9180576" y="4187952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50+50</a:t>
            </a:r>
            <a:endParaRPr lang="en-US" sz="3000" dirty="0"/>
          </a:p>
        </p:txBody>
      </p:sp>
      <p:sp>
        <p:nvSpPr>
          <p:cNvPr id="129" name="Text 35">
            <a:extLst>
              <a:ext uri="{FF2B5EF4-FFF2-40B4-BE49-F238E27FC236}">
                <a16:creationId xmlns:a16="http://schemas.microsoft.com/office/drawing/2014/main" id="{4CC77848-8560-832D-5C9E-FC86EAD143CC}"/>
              </a:ext>
            </a:extLst>
          </p:cNvPr>
          <p:cNvSpPr txBox="1"/>
          <p:nvPr/>
        </p:nvSpPr>
        <p:spPr>
          <a:xfrm>
            <a:off x="9180576" y="4855464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Assessment</a:t>
            </a:r>
            <a:endParaRPr lang="en-US" dirty="0"/>
          </a:p>
        </p:txBody>
      </p:sp>
      <p:sp>
        <p:nvSpPr>
          <p:cNvPr id="131" name="Text 36">
            <a:extLst>
              <a:ext uri="{FF2B5EF4-FFF2-40B4-BE49-F238E27FC236}">
                <a16:creationId xmlns:a16="http://schemas.microsoft.com/office/drawing/2014/main" id="{55DA3F06-A14F-535F-5A07-ACFAA2CFC557}"/>
              </a:ext>
            </a:extLst>
          </p:cNvPr>
          <p:cNvSpPr txBox="1"/>
          <p:nvPr/>
        </p:nvSpPr>
        <p:spPr>
          <a:xfrm>
            <a:off x="9180576" y="5221224"/>
            <a:ext cx="238658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marks/subject: 50 theory + 50 practical/viva/portfolio</a:t>
            </a:r>
            <a:endParaRPr lang="en-US" sz="1100" dirty="0"/>
          </a:p>
        </p:txBody>
      </p:sp>
      <p:pic>
        <p:nvPicPr>
          <p:cNvPr id="134" name="Picture 133">
            <a:extLst>
              <a:ext uri="{FF2B5EF4-FFF2-40B4-BE49-F238E27FC236}">
                <a16:creationId xmlns:a16="http://schemas.microsoft.com/office/drawing/2014/main" id="{8A2650E1-8576-B9B8-6592-45FD74EBA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5460" y="333730"/>
            <a:ext cx="2298433" cy="517055"/>
          </a:xfrm>
          <a:prstGeom prst="rect">
            <a:avLst/>
          </a:prstGeom>
        </p:spPr>
      </p:pic>
      <p:sp>
        <p:nvSpPr>
          <p:cNvPr id="141" name="Text 37">
            <a:extLst>
              <a:ext uri="{FF2B5EF4-FFF2-40B4-BE49-F238E27FC236}">
                <a16:creationId xmlns:a16="http://schemas.microsoft.com/office/drawing/2014/main" id="{3FC450C2-2B59-D6A2-7796-05BD29BA74D9}"/>
              </a:ext>
            </a:extLst>
          </p:cNvPr>
          <p:cNvSpPr txBox="1"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CBSE Guidelines for Setting Up Composite Skill Lab (Annexure &amp; Circulars Skill-75/2024, Skill-13/2026) — compiled by ThinkPro Academy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575820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CBSE Framework: Three ‘Forms of Work’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NCF-SE 2023 — minimum requirement: 6 vocations total, 2 selected from each “Form of Work”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94560"/>
            <a:ext cx="2971800" cy="594360"/>
          </a:xfrm>
          <a:prstGeom prst="roundRect">
            <a:avLst>
              <a:gd name="adj" fmla="val 12308"/>
            </a:avLst>
          </a:prstGeom>
          <a:solidFill>
            <a:srgbClr val="1FA37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Forms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Agriculture, Food Production</a:t>
            </a:r>
            <a:endParaRPr lang="en-US" sz="2000" b="1" dirty="0"/>
          </a:p>
        </p:txBody>
      </p:sp>
      <p:sp>
        <p:nvSpPr>
          <p:cNvPr id="8" name="Shape 6"/>
          <p:cNvSpPr/>
          <p:nvPr/>
        </p:nvSpPr>
        <p:spPr>
          <a:xfrm>
            <a:off x="868680" y="4892040"/>
            <a:ext cx="2880360" cy="548640"/>
          </a:xfrm>
          <a:prstGeom prst="roundRect">
            <a:avLst>
              <a:gd name="adj" fmla="val 10000"/>
            </a:avLst>
          </a:prstGeom>
          <a:solidFill>
            <a:srgbClr val="F1F1F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8920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options available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389120" y="187452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194560"/>
            <a:ext cx="2971800" cy="594360"/>
          </a:xfrm>
          <a:prstGeom prst="roundRect">
            <a:avLst>
              <a:gd name="adj" fmla="val 12308"/>
            </a:avLst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1945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Machines &amp; Materials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09160" y="30632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Mechatronics / Electronics, Apparel, Automotive, Carpentry, IT/ITeS, AVGC</a:t>
            </a:r>
            <a:endParaRPr lang="en-US" sz="2000" b="1" dirty="0"/>
          </a:p>
        </p:txBody>
      </p:sp>
      <p:sp>
        <p:nvSpPr>
          <p:cNvPr id="14" name="Shape 12"/>
          <p:cNvSpPr/>
          <p:nvPr/>
        </p:nvSpPr>
        <p:spPr>
          <a:xfrm>
            <a:off x="4709160" y="4892040"/>
            <a:ext cx="2880360" cy="548640"/>
          </a:xfrm>
          <a:prstGeom prst="roundRect">
            <a:avLst>
              <a:gd name="adj" fmla="val 10000"/>
            </a:avLst>
          </a:prstGeom>
          <a:solidFill>
            <a:srgbClr val="F1F1F6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48920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options available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8229600" y="187452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2194560"/>
            <a:ext cx="2971800" cy="594360"/>
          </a:xfrm>
          <a:prstGeom prst="roundRect">
            <a:avLst>
              <a:gd name="adj" fmla="val 12308"/>
            </a:avLst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21945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Services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549640" y="30632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Healthcare, Beauty &amp; Wellness, Retail, BFSI, Tourism</a:t>
            </a:r>
            <a:endParaRPr lang="en-US" sz="2000" b="1" dirty="0"/>
          </a:p>
        </p:txBody>
      </p:sp>
      <p:sp>
        <p:nvSpPr>
          <p:cNvPr id="20" name="Shape 18"/>
          <p:cNvSpPr/>
          <p:nvPr/>
        </p:nvSpPr>
        <p:spPr>
          <a:xfrm>
            <a:off x="8549640" y="4892040"/>
            <a:ext cx="2880360" cy="548640"/>
          </a:xfrm>
          <a:prstGeom prst="roundRect">
            <a:avLst>
              <a:gd name="adj" fmla="val 10000"/>
            </a:avLst>
          </a:prstGeom>
          <a:solidFill>
            <a:srgbClr val="F1F1F6"/>
          </a:solidFill>
          <a:ln/>
        </p:spPr>
      </p:sp>
      <p:sp>
        <p:nvSpPr>
          <p:cNvPr id="21" name="Text 19"/>
          <p:cNvSpPr/>
          <p:nvPr/>
        </p:nvSpPr>
        <p:spPr>
          <a:xfrm>
            <a:off x="8549640" y="48920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options available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9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ThinkPro Academy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82066F4-5C49-4127-C6D3-02EEC8597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460" y="333730"/>
            <a:ext cx="2298433" cy="5170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3">
            <a:extLst>
              <a:ext uri="{FF2B5EF4-FFF2-40B4-BE49-F238E27FC236}">
                <a16:creationId xmlns:a16="http://schemas.microsoft.com/office/drawing/2014/main" id="{70ED8C57-AA43-C583-7EEE-787455A370E8}"/>
              </a:ext>
            </a:extLst>
          </p:cNvPr>
          <p:cNvSpPr/>
          <p:nvPr/>
        </p:nvSpPr>
        <p:spPr>
          <a:xfrm>
            <a:off x="4873752" y="320040"/>
            <a:ext cx="1837944" cy="594360"/>
          </a:xfrm>
          <a:prstGeom prst="roundRect">
            <a:avLst>
              <a:gd name="adj" fmla="val 12308"/>
            </a:avLst>
          </a:prstGeom>
          <a:solidFill>
            <a:srgbClr val="1FA37D"/>
          </a:solidFill>
          <a:ln/>
        </p:spPr>
      </p:sp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Option We Evaluated: Life Forms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5029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0" y="155448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966960" y="1554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Tier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11064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57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&amp; Gardening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0" y="205740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farming, hydroponics, floriculture, terrace/urban gardening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966960" y="2057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11064240" cy="640080"/>
          </a:xfrm>
          <a:prstGeom prst="rect">
            <a:avLst/>
          </a:prstGeom>
          <a:solidFill>
            <a:srgbClr val="F1F1F6"/>
          </a:solidFill>
          <a:ln w="6350">
            <a:solidFill>
              <a:srgbClr val="E4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697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Production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114800" y="26974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preservation, cooking methods, baking, packaging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966960" y="2697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1F1F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794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sector options exist under Life Forms — </a:t>
            </a:r>
            <a:r>
              <a:rPr lang="en-US" sz="2000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recommended by default, as they use low-cost hand tools and share the same infrastructure (outdoor space, water access).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9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ThinkPro Academy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EADD8C6-2D3B-21D6-17AB-4C977D80F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460" y="333730"/>
            <a:ext cx="2298433" cy="5170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9">
            <a:extLst>
              <a:ext uri="{FF2B5EF4-FFF2-40B4-BE49-F238E27FC236}">
                <a16:creationId xmlns:a16="http://schemas.microsoft.com/office/drawing/2014/main" id="{3EEA8940-F712-0555-4C57-3B110770AE3D}"/>
              </a:ext>
            </a:extLst>
          </p:cNvPr>
          <p:cNvSpPr/>
          <p:nvPr/>
        </p:nvSpPr>
        <p:spPr>
          <a:xfrm>
            <a:off x="4897120" y="365760"/>
            <a:ext cx="3569547" cy="594360"/>
          </a:xfrm>
          <a:prstGeom prst="roundRect">
            <a:avLst>
              <a:gd name="adj" fmla="val 12308"/>
            </a:avLst>
          </a:prstGeom>
          <a:solidFill>
            <a:srgbClr val="2F3C7E"/>
          </a:solidFill>
          <a:ln/>
        </p:spPr>
      </p:sp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Option We Evaluated: </a:t>
            </a:r>
            <a:r>
              <a:rPr lang="en-US" sz="2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Machines &amp; Materials</a:t>
            </a:r>
            <a:endParaRPr lang="en-US" sz="27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61036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3E9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1036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/ Mechatronics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023360" y="161036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Robotics, IoT, Automation, Industry 4.0 basics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733280" y="16103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1592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6016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6016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023360" y="2360168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Fashion/textile design, Sewing, Embroidery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733280" y="236016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109976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10997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023360" y="3109976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Mechanical, Electrical, EV, Fabrication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733280" y="310997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3859784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85978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Carpentry / Woodwork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023360" y="3859784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Furniture-making, Wood/bamboo work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733280" y="385978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Moderate–High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8640" y="4609592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3E9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60959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/ ITeS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023360" y="460959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Coding, AI fundamentals, Machine Learning Cybersecurity, App Development</a:t>
            </a:r>
            <a:endParaRPr lang="en-US" sz="2000" dirty="0">
              <a:solidFill>
                <a:srgbClr val="6B6F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733280" y="460959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existing lab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5913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3594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35940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AVGC &amp; Media Content Creation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023360" y="535940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Animation, Gaming, Video/audio editing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733280" y="53594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48640" y="60634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rows = ThinkPro's recommended picks for this form of work.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9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ThinkPro Academy</a:t>
            </a:r>
            <a:endParaRPr lang="en-US" sz="900" dirty="0"/>
          </a:p>
        </p:txBody>
      </p:sp>
      <p:sp>
        <p:nvSpPr>
          <p:cNvPr id="33" name="Shape 1">
            <a:extLst>
              <a:ext uri="{FF2B5EF4-FFF2-40B4-BE49-F238E27FC236}">
                <a16:creationId xmlns:a16="http://schemas.microsoft.com/office/drawing/2014/main" id="{06EF390C-C3D4-11AC-156E-00D106276B56}"/>
              </a:ext>
            </a:extLst>
          </p:cNvPr>
          <p:cNvSpPr/>
          <p:nvPr/>
        </p:nvSpPr>
        <p:spPr>
          <a:xfrm>
            <a:off x="548640" y="1034288"/>
            <a:ext cx="11064240" cy="5029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E744EC70-59B8-B24F-7D42-D15330245849}"/>
              </a:ext>
            </a:extLst>
          </p:cNvPr>
          <p:cNvSpPr/>
          <p:nvPr/>
        </p:nvSpPr>
        <p:spPr>
          <a:xfrm>
            <a:off x="731520" y="1046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2200" dirty="0"/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F2BBDCBA-5E17-FBF2-A53F-5922F6D48B89}"/>
              </a:ext>
            </a:extLst>
          </p:cNvPr>
          <p:cNvSpPr/>
          <p:nvPr/>
        </p:nvSpPr>
        <p:spPr>
          <a:xfrm>
            <a:off x="4114800" y="104648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</a:t>
            </a:r>
            <a:endParaRPr lang="en-US" sz="2200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A0DC85F8-E41D-0EC7-F928-9E5C24C9FC4D}"/>
              </a:ext>
            </a:extLst>
          </p:cNvPr>
          <p:cNvSpPr/>
          <p:nvPr/>
        </p:nvSpPr>
        <p:spPr>
          <a:xfrm>
            <a:off x="9966960" y="1046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Tier</a:t>
            </a:r>
            <a:endParaRPr lang="en-US" sz="22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426ACB83-8F3D-6222-64CF-720F80AC0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460" y="333730"/>
            <a:ext cx="2298433" cy="5170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15">
            <a:extLst>
              <a:ext uri="{FF2B5EF4-FFF2-40B4-BE49-F238E27FC236}">
                <a16:creationId xmlns:a16="http://schemas.microsoft.com/office/drawing/2014/main" id="{65745110-3058-FC45-32FD-DF88C85CC9B3}"/>
              </a:ext>
            </a:extLst>
          </p:cNvPr>
          <p:cNvSpPr/>
          <p:nvPr/>
        </p:nvSpPr>
        <p:spPr>
          <a:xfrm>
            <a:off x="4935220" y="340868"/>
            <a:ext cx="2621280" cy="594360"/>
          </a:xfrm>
          <a:prstGeom prst="roundRect">
            <a:avLst>
              <a:gd name="adj" fmla="val 12308"/>
            </a:avLst>
          </a:prstGeom>
          <a:solidFill>
            <a:srgbClr val="F96167"/>
          </a:solidFill>
          <a:ln/>
        </p:spPr>
      </p:sp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Option We Evaluated: Human Services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68656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FF3E9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865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9880" y="16865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aid, Patient care, Diagnostics, AYUSH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39960" y="1686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16682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27808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2780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&amp; Wellness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9880" y="252780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services, organic products, spa/therapy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839960" y="252780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Moderate–High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63880" y="3369056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69056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119880" y="3369056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logistics, e-commerce, customer service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839960" y="336905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210304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FF3E9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210304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(Banking, Finance &amp; Insurance)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19880" y="4210304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Literacy, Banking, Insurance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839960" y="4210304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tools required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41920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051552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05155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&amp; Hospitality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119880" y="505155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handling, Event planning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839960" y="505155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tools required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9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ThinkPro Academy</a:t>
            </a:r>
            <a:endParaRPr lang="en-US" sz="900" dirty="0"/>
          </a:p>
        </p:txBody>
      </p:sp>
      <p:sp>
        <p:nvSpPr>
          <p:cNvPr id="28" name="Shape 1">
            <a:extLst>
              <a:ext uri="{FF2B5EF4-FFF2-40B4-BE49-F238E27FC236}">
                <a16:creationId xmlns:a16="http://schemas.microsoft.com/office/drawing/2014/main" id="{B4A0DEC0-4DFF-AE81-E6D4-517D0730D59C}"/>
              </a:ext>
            </a:extLst>
          </p:cNvPr>
          <p:cNvSpPr/>
          <p:nvPr/>
        </p:nvSpPr>
        <p:spPr>
          <a:xfrm>
            <a:off x="548640" y="1034288"/>
            <a:ext cx="11064240" cy="5029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D080049F-D5CD-01EA-AAA0-273C3DAC1BD9}"/>
              </a:ext>
            </a:extLst>
          </p:cNvPr>
          <p:cNvSpPr/>
          <p:nvPr/>
        </p:nvSpPr>
        <p:spPr>
          <a:xfrm>
            <a:off x="731520" y="1046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2200" dirty="0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73AC75EB-80E6-F1D4-0402-32EB4E7DB64A}"/>
              </a:ext>
            </a:extLst>
          </p:cNvPr>
          <p:cNvSpPr/>
          <p:nvPr/>
        </p:nvSpPr>
        <p:spPr>
          <a:xfrm>
            <a:off x="4114800" y="104648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</a:t>
            </a:r>
            <a:endParaRPr lang="en-US" sz="2200" dirty="0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6FDB15CD-8E11-137B-16E9-CC0687ED45B6}"/>
              </a:ext>
            </a:extLst>
          </p:cNvPr>
          <p:cNvSpPr/>
          <p:nvPr/>
        </p:nvSpPr>
        <p:spPr>
          <a:xfrm>
            <a:off x="9966960" y="1046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Tier</a:t>
            </a:r>
            <a:endParaRPr lang="en-US" sz="22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42133FB-919D-C314-1BE0-EEFE70E1B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460" y="333730"/>
            <a:ext cx="2298433" cy="5170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Recommendation: 6 Vocations, Fully Balanced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vocations from each mandated form of work — the most cost-efficient, curriculum-ready, and student-engaging combination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2971800" cy="594360"/>
          </a:xfrm>
          <a:prstGeom prst="roundRect">
            <a:avLst>
              <a:gd name="adj" fmla="val 12308"/>
            </a:avLst>
          </a:prstGeom>
          <a:solidFill>
            <a:srgbClr val="1FA37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Forms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310655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&amp; Gardening</a:t>
            </a:r>
            <a:endParaRPr lang="en-US" sz="2000" dirty="0"/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Production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920240"/>
            <a:ext cx="2971800" cy="594360"/>
          </a:xfrm>
          <a:prstGeom prst="roundRect">
            <a:avLst>
              <a:gd name="adj" fmla="val 12308"/>
            </a:avLst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9202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Machines &amp; Materials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09160" y="2788920"/>
            <a:ext cx="310655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Electronics/Mechatronics</a:t>
            </a:r>
            <a:endParaRPr lang="en-US" sz="2000" dirty="0"/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IT/ITeS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229600" y="16002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1920240"/>
            <a:ext cx="2971800" cy="594360"/>
          </a:xfrm>
          <a:prstGeom prst="roundRect">
            <a:avLst>
              <a:gd name="adj" fmla="val 12308"/>
            </a:avLst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19202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Services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549640" y="2788920"/>
            <a:ext cx="310655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2000" dirty="0"/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CBSE subject codes: 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408 (Agriculture)  •  409 (Food Production)  •  420 (Electronics &amp; Hardware)  •  402 (Information Technology)  •  413 (Healthcare)  •  405/411 (BFSI)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9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ThinkPro Academy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3B4471C-0DFE-DBF6-EA4B-EEE8EAC46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460" y="333730"/>
            <a:ext cx="2298433" cy="5170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Infrastructure &amp; Safety Requirements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51206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 &amp; Furniture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 </a:t>
            </a:r>
            <a:r>
              <a:rPr lang="en-US" sz="16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600 sq. ft. lab (VI–XII) or two 400 sq. ft. labs
</a:t>
            </a:r>
            <a:r>
              <a:rPr lang="en-US" sz="1600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requirements:
</a:t>
            </a:r>
            <a:r>
              <a:rPr lang="en-US" sz="16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Two wide exit doors, ventilation (windows + exhaust fans)
• 15A &amp; 5A electrical points on all walls
• Sink with water &amp; drainage
• Concrete/rubber-mat flooring (avoid tiles)
</a:t>
            </a:r>
            <a:r>
              <a:rPr lang="en-US" sz="1600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Furniture:
</a:t>
            </a:r>
            <a:r>
              <a:rPr lang="en-US" sz="16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Group worktables, teacher's station, lockable storage cupboards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Pegboards for tool display, LED display/projector with internet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17920" y="1280160"/>
            <a:ext cx="5394960" cy="51206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Requirements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Equipment:  </a:t>
            </a:r>
            <a:r>
              <a:rPr lang="en-US" sz="16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extinguishers (CO2 + ABC), first-aid box, sand buckets, rubber matting, gloves, aprons, goggles
</a:t>
            </a:r>
            <a:r>
              <a:rPr lang="en-US" sz="1600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corner:  </a:t>
            </a:r>
            <a:r>
              <a:rPr lang="en-US" sz="16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near entrance, restocked regularly
</a:t>
            </a:r>
            <a:r>
              <a:rPr lang="en-US" sz="1600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roles:  </a:t>
            </a:r>
            <a:r>
              <a:rPr lang="en-US" sz="16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(policy/audits), Teachers (supervision), Students (tool care), Lab In-charge (maintenance), Cleaning Staff (hazard disposal)
</a:t>
            </a:r>
            <a:r>
              <a:rPr lang="en-US" sz="1600" b="1" dirty="0">
                <a:solidFill>
                  <a:srgbClr val="24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Drills:  </a:t>
            </a:r>
            <a:r>
              <a:rPr lang="en-US" sz="16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evacuation/fire drills, clear signage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9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ThinkPro Academy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D86783-F104-B0B5-CFED-8A00133B6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460" y="333730"/>
            <a:ext cx="2298433" cy="5170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C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Build Your Composite Skill Lab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046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rollout that fits your school's budget cycle and ambition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1417320"/>
            <a:ext cx="3364992" cy="4892040"/>
          </a:xfrm>
          <a:prstGeom prst="rect">
            <a:avLst/>
          </a:prstGeom>
          <a:solidFill>
            <a:srgbClr val="F7F7F8"/>
          </a:solidFill>
          <a:ln w="12700">
            <a:solidFill>
              <a:srgbClr val="EAEAEC"/>
            </a:solidFill>
            <a:prstDash val="solid"/>
          </a:ln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1417320"/>
            <a:ext cx="3364992" cy="777240"/>
          </a:xfrm>
          <a:prstGeom prst="rect">
            <a:avLst/>
          </a:prstGeom>
          <a:solidFill>
            <a:srgbClr val="1E9E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1490472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1874520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Investment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8680" y="2331720"/>
            <a:ext cx="1431036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E9E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3544" y="2377440"/>
            <a:ext cx="13213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9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" y="2560320"/>
            <a:ext cx="13213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Vocations</a:t>
            </a:r>
            <a:endParaRPr lang="en-US" sz="1100" b="1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per Form of Work)</a:t>
            </a:r>
            <a:endParaRPr lang="en-US" sz="1100" b="1" dirty="0"/>
          </a:p>
        </p:txBody>
      </p:sp>
      <p:sp>
        <p:nvSpPr>
          <p:cNvPr id="21" name="Shape 19"/>
          <p:cNvSpPr/>
          <p:nvPr/>
        </p:nvSpPr>
        <p:spPr>
          <a:xfrm>
            <a:off x="2436876" y="2331720"/>
            <a:ext cx="1431036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E9E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491740" y="2377440"/>
            <a:ext cx="13213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9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491740" y="2560320"/>
            <a:ext cx="13213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Vocations</a:t>
            </a:r>
            <a:endParaRPr lang="en-US" sz="1100" b="1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(completing all 6)</a:t>
            </a:r>
            <a:endParaRPr lang="en-US" sz="1100" b="1" dirty="0"/>
          </a:p>
        </p:txBody>
      </p:sp>
      <p:sp>
        <p:nvSpPr>
          <p:cNvPr id="24" name="Shape 22"/>
          <p:cNvSpPr/>
          <p:nvPr/>
        </p:nvSpPr>
        <p:spPr>
          <a:xfrm>
            <a:off x="2302509" y="2606040"/>
            <a:ext cx="134367" cy="109728"/>
          </a:xfrm>
          <a:prstGeom prst="rightArrow">
            <a:avLst/>
          </a:prstGeom>
          <a:solidFill>
            <a:srgbClr val="1E9E4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3191256"/>
            <a:ext cx="2999232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 the full investment across two budget cycles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small, prove impact, then scale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end-state as Standard by Year 2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schools easing into skill education spend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85800" y="5806440"/>
            <a:ext cx="3364992" cy="502920"/>
          </a:xfrm>
          <a:prstGeom prst="rect">
            <a:avLst/>
          </a:prstGeom>
          <a:solidFill>
            <a:srgbClr val="1E9E4F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5806440"/>
            <a:ext cx="3364992" cy="0"/>
          </a:xfrm>
          <a:prstGeom prst="line">
            <a:avLst/>
          </a:prstGeom>
          <a:noFill/>
          <a:ln w="15875">
            <a:solidFill>
              <a:srgbClr val="1E9E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8680" y="5861304"/>
            <a:ext cx="2999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E9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750" b="1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5998464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wanting a lower Year 1 outlay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306824" y="1417320"/>
            <a:ext cx="3364992" cy="4892040"/>
          </a:xfrm>
          <a:prstGeom prst="rect">
            <a:avLst/>
          </a:prstGeom>
          <a:solidFill>
            <a:srgbClr val="F7F7F8"/>
          </a:solidFill>
          <a:ln w="12700">
            <a:solidFill>
              <a:srgbClr val="EAEAEC"/>
            </a:solidFill>
            <a:prstDash val="solid"/>
          </a:ln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06824" y="1417320"/>
            <a:ext cx="3364992" cy="777240"/>
          </a:xfrm>
          <a:prstGeom prst="rect">
            <a:avLst/>
          </a:prstGeom>
          <a:solidFill>
            <a:srgbClr val="F0C33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489704" y="1490472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4489704" y="1874520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Scope, Day One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89704" y="2331720"/>
            <a:ext cx="299923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0C33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81144" y="2386584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581144" y="2587752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Vocations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per Form of Work)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489704" y="3191256"/>
            <a:ext cx="2999232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CBSE-compliant lab from day one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Forms of Work fully represented immediately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phased wait — full student exposure from Year 1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schools' recommended starting point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306824" y="5806440"/>
            <a:ext cx="3364992" cy="502920"/>
          </a:xfrm>
          <a:prstGeom prst="rect">
            <a:avLst/>
          </a:prstGeom>
          <a:solidFill>
            <a:srgbClr val="F0C330"/>
          </a:solidFill>
          <a:ln/>
        </p:spPr>
      </p:sp>
      <p:sp>
        <p:nvSpPr>
          <p:cNvPr id="39" name="Shape 37"/>
          <p:cNvSpPr/>
          <p:nvPr/>
        </p:nvSpPr>
        <p:spPr>
          <a:xfrm>
            <a:off x="4306824" y="5806440"/>
            <a:ext cx="3364992" cy="0"/>
          </a:xfrm>
          <a:prstGeom prst="line">
            <a:avLst/>
          </a:prstGeom>
          <a:noFill/>
          <a:ln w="15875">
            <a:solidFill>
              <a:srgbClr val="F0C33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489704" y="5861304"/>
            <a:ext cx="2999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0C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750" b="1" dirty="0"/>
          </a:p>
        </p:txBody>
      </p:sp>
      <p:sp>
        <p:nvSpPr>
          <p:cNvPr id="41" name="Text 39"/>
          <p:cNvSpPr txBox="1"/>
          <p:nvPr/>
        </p:nvSpPr>
        <p:spPr>
          <a:xfrm>
            <a:off x="4489704" y="5998464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ready to commit to the full mandate now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42" name="Shape 40"/>
          <p:cNvSpPr/>
          <p:nvPr/>
        </p:nvSpPr>
        <p:spPr>
          <a:xfrm>
            <a:off x="7927848" y="1417320"/>
            <a:ext cx="3364992" cy="4892040"/>
          </a:xfrm>
          <a:prstGeom prst="rect">
            <a:avLst/>
          </a:prstGeom>
          <a:solidFill>
            <a:srgbClr val="F7F7F8"/>
          </a:solidFill>
          <a:ln w="12700">
            <a:solidFill>
              <a:srgbClr val="EAEAEC"/>
            </a:solidFill>
            <a:prstDash val="solid"/>
          </a:ln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927848" y="1417320"/>
            <a:ext cx="3364992" cy="777240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110728" y="1490472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</a:t>
            </a:r>
            <a:endParaRPr lang="en-US" sz="2000" dirty="0"/>
          </a:p>
        </p:txBody>
      </p:sp>
      <p:sp>
        <p:nvSpPr>
          <p:cNvPr id="45" name="Text 43"/>
          <p:cNvSpPr txBox="1"/>
          <p:nvPr/>
        </p:nvSpPr>
        <p:spPr>
          <a:xfrm>
            <a:off x="8110728" y="1874520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Future-Ready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110728" y="2331720"/>
            <a:ext cx="299923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6B2FA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202168" y="2386584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2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8202168" y="2587752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Vocations + AI Enablement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110728" y="3191256"/>
            <a:ext cx="2999232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Standard, plus CBSE-recommended AI infrastructure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AI-capable systems, curriculum &amp; digital enablement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the school at the leading edge of skill education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 CBSE's AI Integration guidelines (Annexure §7.12)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927848" y="5806440"/>
            <a:ext cx="3364992" cy="502920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51" name="Shape 49"/>
          <p:cNvSpPr/>
          <p:nvPr/>
        </p:nvSpPr>
        <p:spPr>
          <a:xfrm>
            <a:off x="7927848" y="5806440"/>
            <a:ext cx="3364992" cy="0"/>
          </a:xfrm>
          <a:prstGeom prst="line">
            <a:avLst/>
          </a:prstGeom>
          <a:noFill/>
          <a:ln w="15875">
            <a:solidFill>
              <a:srgbClr val="6B2FA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110728" y="5861304"/>
            <a:ext cx="2999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6B2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750" b="1" dirty="0"/>
          </a:p>
        </p:txBody>
      </p:sp>
      <p:sp>
        <p:nvSpPr>
          <p:cNvPr id="53" name="Text 51"/>
          <p:cNvSpPr txBox="1"/>
          <p:nvPr/>
        </p:nvSpPr>
        <p:spPr>
          <a:xfrm>
            <a:off x="8110728" y="5998464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wanting to lead on AI-enabled learning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54" name="Text 52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ThinkPro Academy</a:t>
            </a:r>
            <a:endParaRPr lang="en-US" sz="900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1B20F8A5-4D4E-714D-7C43-5EC9E675D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460" y="333730"/>
            <a:ext cx="2298433" cy="517055"/>
          </a:xfrm>
          <a:prstGeom prst="rect">
            <a:avLst/>
          </a:prstGeom>
        </p:spPr>
      </p:pic>
      <p:sp>
        <p:nvSpPr>
          <p:cNvPr id="59" name="Text 27">
            <a:extLst>
              <a:ext uri="{FF2B5EF4-FFF2-40B4-BE49-F238E27FC236}">
                <a16:creationId xmlns:a16="http://schemas.microsoft.com/office/drawing/2014/main" id="{0D02E003-6FE2-CF88-E991-2B32883466EF}"/>
              </a:ext>
            </a:extLst>
          </p:cNvPr>
          <p:cNvSpPr txBox="1"/>
          <p:nvPr/>
        </p:nvSpPr>
        <p:spPr>
          <a:xfrm>
            <a:off x="875030" y="5827268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: 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61" name="Text 27">
            <a:extLst>
              <a:ext uri="{FF2B5EF4-FFF2-40B4-BE49-F238E27FC236}">
                <a16:creationId xmlns:a16="http://schemas.microsoft.com/office/drawing/2014/main" id="{C72DB8AB-D05E-C721-90BD-E1275EAE0F8B}"/>
              </a:ext>
            </a:extLst>
          </p:cNvPr>
          <p:cNvSpPr txBox="1"/>
          <p:nvPr/>
        </p:nvSpPr>
        <p:spPr>
          <a:xfrm>
            <a:off x="4489704" y="5827268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: 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63" name="Text 27">
            <a:extLst>
              <a:ext uri="{FF2B5EF4-FFF2-40B4-BE49-F238E27FC236}">
                <a16:creationId xmlns:a16="http://schemas.microsoft.com/office/drawing/2014/main" id="{14741F40-4FD5-D193-2ED5-4F89B1B684EF}"/>
              </a:ext>
            </a:extLst>
          </p:cNvPr>
          <p:cNvSpPr txBox="1"/>
          <p:nvPr/>
        </p:nvSpPr>
        <p:spPr>
          <a:xfrm>
            <a:off x="8110728" y="5827268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: </a:t>
            </a:r>
            <a:endParaRPr lang="en-US" sz="11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Summary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9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ThinkPro Academy</a:t>
            </a:r>
            <a:endParaRPr lang="en-US" sz="9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8060F56-F45B-7A6F-E966-7D1C1E78E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460" y="333730"/>
            <a:ext cx="2298433" cy="51705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C0C3802-5190-9965-CF39-2A82516B0D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030131"/>
              </p:ext>
            </p:extLst>
          </p:nvPr>
        </p:nvGraphicFramePr>
        <p:xfrm>
          <a:off x="629653" y="1341208"/>
          <a:ext cx="10992051" cy="44788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84369">
                  <a:extLst>
                    <a:ext uri="{9D8B030D-6E8A-4147-A177-3AD203B41FA5}">
                      <a16:colId xmlns:a16="http://schemas.microsoft.com/office/drawing/2014/main" val="2448770146"/>
                    </a:ext>
                  </a:extLst>
                </a:gridCol>
                <a:gridCol w="1982966">
                  <a:extLst>
                    <a:ext uri="{9D8B030D-6E8A-4147-A177-3AD203B41FA5}">
                      <a16:colId xmlns:a16="http://schemas.microsoft.com/office/drawing/2014/main" val="2008847093"/>
                    </a:ext>
                  </a:extLst>
                </a:gridCol>
                <a:gridCol w="1982966">
                  <a:extLst>
                    <a:ext uri="{9D8B030D-6E8A-4147-A177-3AD203B41FA5}">
                      <a16:colId xmlns:a16="http://schemas.microsoft.com/office/drawing/2014/main" val="2135142604"/>
                    </a:ext>
                  </a:extLst>
                </a:gridCol>
                <a:gridCol w="1982966">
                  <a:extLst>
                    <a:ext uri="{9D8B030D-6E8A-4147-A177-3AD203B41FA5}">
                      <a16:colId xmlns:a16="http://schemas.microsoft.com/office/drawing/2014/main" val="2741397745"/>
                    </a:ext>
                  </a:extLst>
                </a:gridCol>
                <a:gridCol w="1958784">
                  <a:extLst>
                    <a:ext uri="{9D8B030D-6E8A-4147-A177-3AD203B41FA5}">
                      <a16:colId xmlns:a16="http://schemas.microsoft.com/office/drawing/2014/main" val="171260438"/>
                    </a:ext>
                  </a:extLst>
                </a:gridCol>
              </a:tblGrid>
              <a:tr h="9374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  <a:effectLst/>
                        </a:rPr>
                        <a:t>Feature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</a:rPr>
                        <a:t>Essential – Year 1</a:t>
                      </a:r>
                      <a:endParaRPr lang="en-IN" sz="20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</a:rPr>
                        <a:t>Essential – Year 2</a:t>
                      </a:r>
                      <a:endParaRPr lang="en-IN" sz="20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</a:rPr>
                        <a:t>Standard</a:t>
                      </a:r>
                      <a:endParaRPr lang="en-IN" sz="20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</a:rPr>
                        <a:t>Premium</a:t>
                      </a:r>
                      <a:endParaRPr lang="en-IN" sz="20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057814"/>
                  </a:ext>
                </a:extLst>
              </a:tr>
              <a:tr h="52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Vocations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effectLst/>
                        </a:rPr>
                        <a:t>3 </a:t>
                      </a:r>
                    </a:p>
                    <a:p>
                      <a:pPr algn="ctr">
                        <a:buNone/>
                      </a:pPr>
                      <a:r>
                        <a:rPr lang="en-IN" sz="1600" dirty="0">
                          <a:effectLst/>
                        </a:rPr>
                        <a:t>(1 per Form of Work)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effectLst/>
                        </a:rPr>
                        <a:t>3 </a:t>
                      </a:r>
                    </a:p>
                    <a:p>
                      <a:pPr algn="ctr">
                        <a:buNone/>
                      </a:pPr>
                      <a:r>
                        <a:rPr lang="en-IN" sz="1600" dirty="0">
                          <a:effectLst/>
                        </a:rPr>
                        <a:t>(1 per Form of Work)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effectLst/>
                        </a:rPr>
                        <a:t>6 </a:t>
                      </a:r>
                    </a:p>
                    <a:p>
                      <a:pPr algn="ctr">
                        <a:buNone/>
                      </a:pPr>
                      <a:r>
                        <a:rPr lang="en-IN" sz="1600" dirty="0">
                          <a:effectLst/>
                        </a:rPr>
                        <a:t>(2 per Form of Work)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effectLst/>
                        </a:rPr>
                        <a:t>6 </a:t>
                      </a:r>
                    </a:p>
                    <a:p>
                      <a:pPr algn="ctr">
                        <a:buNone/>
                      </a:pPr>
                      <a:r>
                        <a:rPr lang="en-IN" sz="1600" dirty="0">
                          <a:effectLst/>
                        </a:rPr>
                        <a:t>+ AI Enablement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3737585181"/>
                  </a:ext>
                </a:extLst>
              </a:tr>
              <a:tr h="52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</a:rPr>
                        <a:t>Skill Equipment &amp; Setup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>
                          <a:effectLst/>
                        </a:rPr>
                        <a:t>₹2,25,548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R="58420" algn="r">
                        <a:buNone/>
                      </a:pPr>
                      <a:r>
                        <a:rPr lang="en-IN" sz="2000" dirty="0">
                          <a:effectLst/>
                        </a:rPr>
                        <a:t>₹2,25,548 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" marR="6350" marT="0" marB="0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>
                          <a:effectLst/>
                        </a:rPr>
                        <a:t>₹4,51,096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>
                          <a:effectLst/>
                        </a:rPr>
                        <a:t>₹8,06,256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2748281776"/>
                  </a:ext>
                </a:extLst>
              </a:tr>
              <a:tr h="52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</a:rPr>
                        <a:t>Curriculum &amp; Training /yr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 dirty="0">
                          <a:effectLst/>
                        </a:rPr>
                        <a:t>₹60,000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R="58420" algn="r">
                        <a:buNone/>
                      </a:pPr>
                      <a:r>
                        <a:rPr lang="en-IN" sz="2000" dirty="0">
                          <a:effectLst/>
                        </a:rPr>
                        <a:t>₹60,000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" marR="6350" marT="0" marB="0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>
                          <a:effectLst/>
                        </a:rPr>
                        <a:t>₹1,20,000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>
                          <a:effectLst/>
                        </a:rPr>
                        <a:t>₹1,50,000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1423715569"/>
                  </a:ext>
                </a:extLst>
              </a:tr>
              <a:tr h="937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</a:rPr>
                        <a:t>LMS + Books + Support*</a:t>
                      </a:r>
                    </a:p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</a:rPr>
                        <a:t>(Per Student /yr) (Optional)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>
                          <a:effectLst/>
                        </a:rPr>
                        <a:t>₹450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R="58420" algn="r">
                        <a:buNone/>
                      </a:pPr>
                      <a:r>
                        <a:rPr lang="en-IN" sz="2000" dirty="0">
                          <a:effectLst/>
                        </a:rPr>
                        <a:t>₹450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" marR="6350" marT="0" marB="0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>
                          <a:effectLst/>
                        </a:rPr>
                        <a:t>₹450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>
                          <a:effectLst/>
                        </a:rPr>
                        <a:t>₹450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520534345"/>
                  </a:ext>
                </a:extLst>
              </a:tr>
              <a:tr h="937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</a:rPr>
                        <a:t>Consumables </a:t>
                      </a:r>
                    </a:p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</a:rPr>
                        <a:t>(Per Batch /yr) (Optional)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>
                          <a:effectLst/>
                        </a:rPr>
                        <a:t>₹11,586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58420" algn="r">
                        <a:buNone/>
                      </a:pPr>
                      <a:r>
                        <a:rPr lang="en-IN" sz="2000" dirty="0">
                          <a:effectLst/>
                        </a:rPr>
                        <a:t>₹11,586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" marR="6350" marT="0" marB="0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>
                          <a:effectLst/>
                        </a:rPr>
                        <a:t>₹11,586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 dirty="0">
                          <a:effectLst/>
                        </a:rPr>
                        <a:t>₹11,586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/>
                </a:tc>
                <a:extLst>
                  <a:ext uri="{0D108BD9-81ED-4DB2-BD59-A6C34878D82A}">
                    <a16:rowId xmlns:a16="http://schemas.microsoft.com/office/drawing/2014/main" val="3971516547"/>
                  </a:ext>
                </a:extLst>
              </a:tr>
            </a:tbl>
          </a:graphicData>
        </a:graphic>
      </p:graphicFrame>
      <p:sp>
        <p:nvSpPr>
          <p:cNvPr id="14" name="Text 20">
            <a:extLst>
              <a:ext uri="{FF2B5EF4-FFF2-40B4-BE49-F238E27FC236}">
                <a16:creationId xmlns:a16="http://schemas.microsoft.com/office/drawing/2014/main" id="{173FB524-C3BA-5631-3624-2B493B85F0B1}"/>
              </a:ext>
            </a:extLst>
          </p:cNvPr>
          <p:cNvSpPr/>
          <p:nvPr/>
        </p:nvSpPr>
        <p:spPr>
          <a:xfrm>
            <a:off x="629653" y="5845401"/>
            <a:ext cx="11064240" cy="868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*Ongoing Support includes the following</a:t>
            </a:r>
          </a:p>
          <a:p>
            <a:pPr marL="0" indent="0">
              <a:buNone/>
            </a:pPr>
            <a:r>
              <a:rPr lang="en-US" sz="150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Access, Book, Weekly Reporting to the school management on the progress, Online refresher trainings, On call virtual support, 3-4 onsite visits, Kaushal Mela support, Co-branded certificate 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2F3C7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 &amp; Design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9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visit, space planning, vocation confirmation, contract sign-off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383280" y="155448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7373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66160" y="2560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Equip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66160" y="31546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9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work guidance, furniture &amp; tool installation, safety setup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4389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3–6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2F3C7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7373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00800" y="2560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&amp; Certify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0" y="31546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9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training across all 6 vocations, LMS onboarding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4389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7–8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9052560" y="155448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9235440" y="17373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235440" y="2560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&amp; Support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235440" y="31546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9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rollout, ongoing consumables &amp; relationship support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35440" y="4389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9+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48640" y="516636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1F1F6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166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rollout in under 8 weeks 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9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ThinkPro Academy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1ACF807-A03F-461F-D0CA-E5372A1D6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460" y="333730"/>
            <a:ext cx="2298433" cy="5170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ThinkPro Academy</a:t>
            </a:r>
            <a:endParaRPr lang="en-US" sz="2700" dirty="0">
              <a:solidFill>
                <a:schemeClr val="tx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single, accountable partner from lab design to daily classroom delivery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2F3C7E"/>
          </a:solidFill>
          <a:ln/>
        </p:spPr>
      </p:sp>
      <p:sp>
        <p:nvSpPr>
          <p:cNvPr id="5" name="Shape 3"/>
          <p:cNvSpPr/>
          <p:nvPr/>
        </p:nvSpPr>
        <p:spPr>
          <a:xfrm>
            <a:off x="1577340" y="187452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15773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C9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planning, civil work guidance, furniture &amp; safety setup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83280" y="16002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2F3C7E"/>
          </a:solidFill>
          <a:ln/>
        </p:spPr>
      </p:sp>
      <p:sp>
        <p:nvSpPr>
          <p:cNvPr id="10" name="Shape 8"/>
          <p:cNvSpPr/>
          <p:nvPr/>
        </p:nvSpPr>
        <p:spPr>
          <a:xfrm>
            <a:off x="4411980" y="187452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4119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20440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Curriculum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66160" y="30175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C9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CBSE aligned lesson plans, activity kits &amp; assessment templates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2F3C7E"/>
          </a:solidFill>
          <a:ln/>
        </p:spPr>
      </p:sp>
      <p:sp>
        <p:nvSpPr>
          <p:cNvPr id="15" name="Shape 13"/>
          <p:cNvSpPr/>
          <p:nvPr/>
        </p:nvSpPr>
        <p:spPr>
          <a:xfrm>
            <a:off x="7246620" y="187452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72466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55080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 Training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0" y="30175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C9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facilitator training, ongoing pedagogy support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52560" y="16002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2F3C7E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81260" y="187452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100812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89720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235440" y="30175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C9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&amp; digital portfolio tracking mapped to CBSE's assessment model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" y="4160520"/>
            <a:ext cx="365760" cy="365760"/>
          </a:xfrm>
          <a:prstGeom prst="ellipse">
            <a:avLst/>
          </a:prstGeom>
          <a:solidFill>
            <a:srgbClr val="1FA37D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41148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accountable partner — infrastructure, curriculum, training &amp; tech under a single contract</a:t>
            </a:r>
            <a:endParaRPr lang="en-US" sz="1350" dirty="0">
              <a:solidFill>
                <a:schemeClr val="tx2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0080" y="4709160"/>
            <a:ext cx="365760" cy="365760"/>
          </a:xfrm>
          <a:prstGeom prst="ellipse">
            <a:avLst/>
          </a:prstGeom>
          <a:solidFill>
            <a:srgbClr val="1FA37D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88720" y="46634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rigorously mapped to CBSE syllabus</a:t>
            </a:r>
            <a:endParaRPr lang="en-US" sz="1350" dirty="0">
              <a:solidFill>
                <a:schemeClr val="tx2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" y="5257800"/>
            <a:ext cx="365760" cy="365760"/>
          </a:xfrm>
          <a:prstGeom prst="ellipse">
            <a:avLst/>
          </a:prstGeom>
          <a:solidFill>
            <a:srgbClr val="1FA37D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88720" y="52120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one-time + annual pricing, no hidden costs</a:t>
            </a:r>
            <a:endParaRPr lang="en-US" sz="1350" dirty="0">
              <a:solidFill>
                <a:schemeClr val="tx2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40080" y="5806440"/>
            <a:ext cx="365760" cy="365760"/>
          </a:xfrm>
          <a:prstGeom prst="ellipse">
            <a:avLst/>
          </a:prstGeom>
          <a:solidFill>
            <a:srgbClr val="1FA37D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5806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88720" y="57607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rollout in under 8 weeks, well ahead of the compliance deadline</a:t>
            </a:r>
            <a:endParaRPr lang="en-US" sz="1350" dirty="0">
              <a:solidFill>
                <a:schemeClr val="tx2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E9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ThinkPro Academy</a:t>
            </a:r>
            <a:endParaRPr lang="en-US" sz="9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3F8BA1E6-90CA-F70D-BCA5-CB5A078D2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460" y="333730"/>
            <a:ext cx="2298433" cy="5170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8465</TotalTime>
  <Words>1426</Words>
  <Application>Microsoft Office PowerPoint</Application>
  <PresentationFormat>Widescreen</PresentationFormat>
  <Paragraphs>265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Metro Kitchen</cp:lastModifiedBy>
  <cp:revision>9</cp:revision>
  <dcterms:created xsi:type="dcterms:W3CDTF">2026-07-31T10:25:41Z</dcterms:created>
  <dcterms:modified xsi:type="dcterms:W3CDTF">2026-09-19T08:33:00Z</dcterms:modified>
</cp:coreProperties>
</file>